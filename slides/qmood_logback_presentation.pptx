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75"/>
  <p:notesSz cx="6858000" cy="12191675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"/>
          <p:cNvCxnSpPr/>
          <p:nvPr/>
        </p:nvCxnSpPr>
        <p:spPr>
          <a:xfrm>
            <a:off x="502920" y="644652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685800" y="1600200"/>
            <a:ext cx="99669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3600"/>
              <a:buFont typeface="Play"/>
              <a:buNone/>
            </a:pPr>
            <a:r>
              <a:rPr b="1" i="0" lang="en-US" sz="3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QMOOD-Based Software Quality Evolution Analysis of Logback with LLM-Supported Evaluation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4"/>
          <p:cNvCxnSpPr/>
          <p:nvPr/>
        </p:nvCxnSpPr>
        <p:spPr>
          <a:xfrm>
            <a:off x="713232" y="3063240"/>
            <a:ext cx="1920240" cy="0"/>
          </a:xfrm>
          <a:prstGeom prst="straightConnector1">
            <a:avLst/>
          </a:prstGeom>
          <a:noFill/>
          <a:ln cap="flat" cmpd="sng" w="381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/>
          <p:nvPr/>
        </p:nvSpPr>
        <p:spPr>
          <a:xfrm>
            <a:off x="685800" y="340156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Master’s Course Project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85800" y="397764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approximation • CK metrics • LLM-supported discussion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Project Aim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5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5"/>
          <p:cNvSpPr/>
          <p:nvPr/>
        </p:nvSpPr>
        <p:spPr>
          <a:xfrm>
            <a:off x="822960" y="1508760"/>
            <a:ext cx="649224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Analyze quality evolution of Logback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Use CK Tool object-oriented metrics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Calculate QMOOD-inspired quality scores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Compare interpretations from 3 LLMs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7726680" y="1417320"/>
            <a:ext cx="3291840" cy="502920"/>
          </a:xfrm>
          <a:prstGeom prst="roundRect">
            <a:avLst>
              <a:gd fmla="val 14545" name="adj"/>
            </a:avLst>
          </a:prstGeom>
          <a:solidFill>
            <a:srgbClr val="E0F2FE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7891272" y="1554480"/>
            <a:ext cx="29626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1. Metrics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5"/>
          <p:cNvCxnSpPr/>
          <p:nvPr/>
        </p:nvCxnSpPr>
        <p:spPr>
          <a:xfrm>
            <a:off x="9372600" y="1956816"/>
            <a:ext cx="0" cy="228600"/>
          </a:xfrm>
          <a:prstGeom prst="straightConnector1">
            <a:avLst/>
          </a:prstGeom>
          <a:noFill/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" name="Google Shape;38;p5"/>
          <p:cNvSpPr/>
          <p:nvPr/>
        </p:nvSpPr>
        <p:spPr>
          <a:xfrm>
            <a:off x="7726680" y="2240280"/>
            <a:ext cx="3291840" cy="502920"/>
          </a:xfrm>
          <a:prstGeom prst="roundRect">
            <a:avLst>
              <a:gd fmla="val 14545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7891272" y="2377440"/>
            <a:ext cx="29626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2. Scores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5"/>
          <p:cNvCxnSpPr/>
          <p:nvPr/>
        </p:nvCxnSpPr>
        <p:spPr>
          <a:xfrm>
            <a:off x="9372600" y="2779776"/>
            <a:ext cx="0" cy="228600"/>
          </a:xfrm>
          <a:prstGeom prst="straightConnector1">
            <a:avLst/>
          </a:prstGeom>
          <a:noFill/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" name="Google Shape;41;p5"/>
          <p:cNvSpPr/>
          <p:nvPr/>
        </p:nvSpPr>
        <p:spPr>
          <a:xfrm>
            <a:off x="7726680" y="3063240"/>
            <a:ext cx="3291840" cy="502920"/>
          </a:xfrm>
          <a:prstGeom prst="roundRect">
            <a:avLst>
              <a:gd fmla="val 14545" name="adj"/>
            </a:avLst>
          </a:prstGeom>
          <a:solidFill>
            <a:srgbClr val="E0F2FE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7891272" y="3200400"/>
            <a:ext cx="29626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3. LLM support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5"/>
          <p:cNvCxnSpPr/>
          <p:nvPr/>
        </p:nvCxnSpPr>
        <p:spPr>
          <a:xfrm>
            <a:off x="9372600" y="3602736"/>
            <a:ext cx="0" cy="228600"/>
          </a:xfrm>
          <a:prstGeom prst="straightConnector1">
            <a:avLst/>
          </a:prstGeom>
          <a:noFill/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" name="Google Shape;44;p5"/>
          <p:cNvSpPr/>
          <p:nvPr/>
        </p:nvSpPr>
        <p:spPr>
          <a:xfrm>
            <a:off x="7726680" y="3886200"/>
            <a:ext cx="3291840" cy="502920"/>
          </a:xfrm>
          <a:prstGeom prst="roundRect">
            <a:avLst>
              <a:gd fmla="val 14545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7891272" y="4023360"/>
            <a:ext cx="29626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4. Discussion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 txBox="1"/>
          <p:nvPr>
            <p:ph idx="4294967295" type="sldNum"/>
          </p:nvPr>
        </p:nvSpPr>
        <p:spPr>
          <a:xfrm>
            <a:off x="11201400" y="649224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Selected Software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6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6"/>
          <p:cNvSpPr/>
          <p:nvPr/>
        </p:nvSpPr>
        <p:spPr>
          <a:xfrm>
            <a:off x="822960" y="1444752"/>
            <a:ext cx="676656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Software: Logback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Type: Java logging framework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Repository: https://github.com/qos-ch/logback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Reason: mature, open-source, object-oriented, multiple versions available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7818120" y="1600200"/>
            <a:ext cx="3291840" cy="2926080"/>
          </a:xfrm>
          <a:prstGeom prst="roundRect">
            <a:avLst>
              <a:gd fmla="val 2500" name="adj"/>
            </a:avLst>
          </a:prstGeom>
          <a:solidFill>
            <a:srgbClr val="EEF6FA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8046720" y="18745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Why Logback?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046720" y="2386584"/>
            <a:ext cx="28346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It is suitable for version-based metric comparison because it has several released versions and a clear Java object-oriented structure.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Analyzed Scope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7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7"/>
          <p:cNvSpPr/>
          <p:nvPr/>
        </p:nvSpPr>
        <p:spPr>
          <a:xfrm>
            <a:off x="822960" y="1417320"/>
            <a:ext cx="676656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Versions: v_1.5.25 to v_1.5.34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Modules: logback-core and logback-classic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Excluded: tests, examples, docs, generated files, logback-access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Reason: keep comparison consistent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7589520" y="144475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Analyzed modules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7589520" y="19659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logback-core/src/main/java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logback-classic/src/main/java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7"/>
          <p:cNvCxnSpPr/>
          <p:nvPr/>
        </p:nvCxnSpPr>
        <p:spPr>
          <a:xfrm>
            <a:off x="7589520" y="3154680"/>
            <a:ext cx="3383280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7"/>
          <p:cNvSpPr/>
          <p:nvPr/>
        </p:nvSpPr>
        <p:spPr>
          <a:xfrm>
            <a:off x="7589520" y="342900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Scope rule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589520" y="3858768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Only the same production modules were compared across all selected versions.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Metric Extraction Process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8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8"/>
          <p:cNvSpPr/>
          <p:nvPr/>
        </p:nvSpPr>
        <p:spPr>
          <a:xfrm>
            <a:off x="822960" y="1600200"/>
            <a:ext cx="59436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CK Tool used for Java metrics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Metrics extracted from source code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Raw metrics saved per version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Processed metrics summarized with Python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6995160" y="1600200"/>
            <a:ext cx="1554480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7086600" y="178308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CK Tool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9144000" y="1600200"/>
            <a:ext cx="1554480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9235440" y="178308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Raw CSV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995160" y="2971800"/>
            <a:ext cx="1554480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7086600" y="315468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9144000" y="2971800"/>
            <a:ext cx="1554480" cy="585216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9235440" y="315468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Graphs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8"/>
          <p:cNvCxnSpPr/>
          <p:nvPr/>
        </p:nvCxnSpPr>
        <p:spPr>
          <a:xfrm>
            <a:off x="8613648" y="1883664"/>
            <a:ext cx="457200" cy="0"/>
          </a:xfrm>
          <a:prstGeom prst="straightConnector1">
            <a:avLst/>
          </a:prstGeom>
          <a:noFill/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p8"/>
          <p:cNvCxnSpPr/>
          <p:nvPr/>
        </p:nvCxnSpPr>
        <p:spPr>
          <a:xfrm>
            <a:off x="7772400" y="2212848"/>
            <a:ext cx="0" cy="640080"/>
          </a:xfrm>
          <a:prstGeom prst="straightConnector1">
            <a:avLst/>
          </a:prstGeom>
          <a:noFill/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8"/>
          <p:cNvCxnSpPr/>
          <p:nvPr/>
        </p:nvCxnSpPr>
        <p:spPr>
          <a:xfrm>
            <a:off x="8613648" y="3255264"/>
            <a:ext cx="457200" cy="0"/>
          </a:xfrm>
          <a:prstGeom prst="straightConnector1">
            <a:avLst/>
          </a:prstGeom>
          <a:noFill/>
          <a:ln cap="flat" cmpd="sng" w="15225">
            <a:solidFill>
              <a:srgbClr val="0E749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" name="Google Shape;95;p8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Metrics Used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9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9"/>
          <p:cNvSpPr/>
          <p:nvPr/>
        </p:nvSpPr>
        <p:spPr>
          <a:xfrm>
            <a:off x="822960" y="1234440"/>
            <a:ext cx="649224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CBO for coupling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WMC for complexity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RFC for messaging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LCOM for cohesion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DIT and NOC for inheritance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LOC, methods, fields for size and structure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7543800" y="141732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CBO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7543800" y="1728216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Coupling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9"/>
          <p:cNvCxnSpPr/>
          <p:nvPr/>
        </p:nvCxnSpPr>
        <p:spPr>
          <a:xfrm>
            <a:off x="7543800" y="2039112"/>
            <a:ext cx="1600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9"/>
          <p:cNvSpPr/>
          <p:nvPr/>
        </p:nvSpPr>
        <p:spPr>
          <a:xfrm>
            <a:off x="9372600" y="141732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WMC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9372600" y="1728216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9"/>
          <p:cNvCxnSpPr/>
          <p:nvPr/>
        </p:nvCxnSpPr>
        <p:spPr>
          <a:xfrm>
            <a:off x="9372600" y="2039112"/>
            <a:ext cx="1600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9"/>
          <p:cNvSpPr/>
          <p:nvPr/>
        </p:nvSpPr>
        <p:spPr>
          <a:xfrm>
            <a:off x="7543800" y="24231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RFC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7543800" y="2734056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Messaging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9"/>
          <p:cNvCxnSpPr/>
          <p:nvPr/>
        </p:nvCxnSpPr>
        <p:spPr>
          <a:xfrm>
            <a:off x="7543800" y="3044952"/>
            <a:ext cx="1600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9"/>
          <p:cNvSpPr/>
          <p:nvPr/>
        </p:nvSpPr>
        <p:spPr>
          <a:xfrm>
            <a:off x="9372600" y="24231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LCOM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9372600" y="2734056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Cohesion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9"/>
          <p:cNvCxnSpPr/>
          <p:nvPr/>
        </p:nvCxnSpPr>
        <p:spPr>
          <a:xfrm>
            <a:off x="9372600" y="3044952"/>
            <a:ext cx="1600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9"/>
          <p:cNvSpPr/>
          <p:nvPr/>
        </p:nvSpPr>
        <p:spPr>
          <a:xfrm>
            <a:off x="7543800" y="34290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DIT / NOC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7543800" y="3739896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9"/>
          <p:cNvCxnSpPr/>
          <p:nvPr/>
        </p:nvCxnSpPr>
        <p:spPr>
          <a:xfrm>
            <a:off x="7543800" y="4050792"/>
            <a:ext cx="1600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9"/>
          <p:cNvSpPr/>
          <p:nvPr/>
        </p:nvSpPr>
        <p:spPr>
          <a:xfrm>
            <a:off x="9372600" y="342900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LOC / methods / fields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9372600" y="3739896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Size &amp; structure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9"/>
          <p:cNvCxnSpPr/>
          <p:nvPr/>
        </p:nvCxnSpPr>
        <p:spPr>
          <a:xfrm>
            <a:off x="9372600" y="4050792"/>
            <a:ext cx="16002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9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QMOOD-Inspired Method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10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0"/>
          <p:cNvSpPr/>
          <p:nvPr/>
        </p:nvSpPr>
        <p:spPr>
          <a:xfrm>
            <a:off x="822960" y="1234440"/>
            <a:ext cx="681228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CK metrics mapped to QMOOD design properties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Scores normalized across 10 versions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Lower-is-better metrics were inverted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Output: six quality attributes + overall score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Important: approximation, not full original QMOOD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7863840" y="1508760"/>
            <a:ext cx="3200400" cy="2423160"/>
          </a:xfrm>
          <a:prstGeom prst="roundRect">
            <a:avLst>
              <a:gd fmla="val 3019" name="adj"/>
            </a:avLst>
          </a:prstGeom>
          <a:solidFill>
            <a:srgbClr val="EEF6FA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8092440" y="17830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Important note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8092440" y="2295144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scores compare the selected versions only. They are not absolute software quality values.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8138160" y="4297680"/>
            <a:ext cx="1417320" cy="320040"/>
          </a:xfrm>
          <a:prstGeom prst="roundRect">
            <a:avLst>
              <a:gd fmla="val 22857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8229600" y="4370832"/>
            <a:ext cx="12344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QMOOD-inspired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9738360" y="4297680"/>
            <a:ext cx="1143000" cy="320040"/>
          </a:xfrm>
          <a:prstGeom prst="roundRect">
            <a:avLst>
              <a:gd fmla="val 22857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9829800" y="4370832"/>
            <a:ext cx="960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Comparative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Key Metric Results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1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1"/>
          <p:cNvSpPr/>
          <p:nvPr/>
        </p:nvSpPr>
        <p:spPr>
          <a:xfrm>
            <a:off x="822960" y="1234440"/>
            <a:ext cx="214884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932688" y="1335024"/>
            <a:ext cx="19293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Class count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932688" y="1545336"/>
            <a:ext cx="19293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670 → 643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3154680" y="1234440"/>
            <a:ext cx="242316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3264408" y="1335024"/>
            <a:ext cx="22037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Total LOC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3264408" y="1545336"/>
            <a:ext cx="2203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26,958 → 26,292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5806440" y="1234440"/>
            <a:ext cx="256032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5916168" y="1335024"/>
            <a:ext cx="23408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Avg WMC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5916168" y="1545336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10.123881 → 10.297045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8595360" y="1234440"/>
            <a:ext cx="256032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8705088" y="1335024"/>
            <a:ext cx="23408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Avg LCOM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8705088" y="1545336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21.523881 → 22.326594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68680" y="2286000"/>
            <a:ext cx="557784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Measured code became smaller overall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Average WMC increased slightly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Average LCOM increased slightly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Interpretation: slightly higher average complexity and lower cohesion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Figure 2 can show CBO, WMC, and LCOM trends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0" y="2240280"/>
            <a:ext cx="425196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1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Quality Score Results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12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2"/>
          <p:cNvSpPr/>
          <p:nvPr/>
        </p:nvSpPr>
        <p:spPr>
          <a:xfrm>
            <a:off x="822960" y="1325880"/>
            <a:ext cx="53035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Highest scores: v_1.5.25 and v_1.5.26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Lowest scores: v_1.5.33 and v_1.5.34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Partial recovery around v_1.5.30 to v_1.5.32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Overall trend: downward, but not linear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Figure 3 can show quality attributes by version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417320"/>
            <a:ext cx="484632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2"/>
          <p:cNvSpPr/>
          <p:nvPr/>
        </p:nvSpPr>
        <p:spPr>
          <a:xfrm>
            <a:off x="6355080" y="4956048"/>
            <a:ext cx="4846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Later versions appear stronger in functionality-related scores, but weaker in understandability and reusability.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LLM Evaluation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13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3"/>
          <p:cNvSpPr/>
          <p:nvPr/>
        </p:nvSpPr>
        <p:spPr>
          <a:xfrm>
            <a:off x="822960" y="1234440"/>
            <a:ext cx="59436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Same prompt and metrics given to ChatGPT, Gemini, DeepSeek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ChatGPT: cautious and balanced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Gemini: detailed and metric-specific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DeepSeek: clear phase-based explanation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50"/>
              <a:buFont typeface="Arial"/>
              <a:buNone/>
            </a:pPr>
            <a:r>
              <a:rPr b="0" i="0" lang="en-US" sz="1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LLMs used only for supporting interpretation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7543800" y="137160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ChatGPT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9189720" y="1325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Cautious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and balanced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3"/>
          <p:cNvCxnSpPr/>
          <p:nvPr/>
        </p:nvCxnSpPr>
        <p:spPr>
          <a:xfrm>
            <a:off x="7543800" y="2057400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3"/>
          <p:cNvSpPr/>
          <p:nvPr/>
        </p:nvSpPr>
        <p:spPr>
          <a:xfrm>
            <a:off x="7543800" y="251460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Gemini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9189720" y="2468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Detailed and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metric-specific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13"/>
          <p:cNvCxnSpPr/>
          <p:nvPr/>
        </p:nvCxnSpPr>
        <p:spPr>
          <a:xfrm>
            <a:off x="7543800" y="3200400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3"/>
          <p:cNvSpPr/>
          <p:nvPr/>
        </p:nvSpPr>
        <p:spPr>
          <a:xfrm>
            <a:off x="7543800" y="365760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DeepSeek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9189720" y="36118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Clear phase-based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explanation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Limitations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14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4"/>
          <p:cNvSpPr/>
          <p:nvPr/>
        </p:nvSpPr>
        <p:spPr>
          <a:xfrm>
            <a:off x="822960" y="1325880"/>
            <a:ext cx="649224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QMOOD-inspired, not full QMOOD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Metrics are aggregated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Only two modules analyzed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LLMs did not inspect source code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Causes of changes require future changelog or commit analysis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7818120" y="1554480"/>
            <a:ext cx="3291840" cy="2788920"/>
          </a:xfrm>
          <a:prstGeom prst="roundRect">
            <a:avLst>
              <a:gd fmla="val 2623" name="adj"/>
            </a:avLst>
          </a:prstGeom>
          <a:solidFill>
            <a:srgbClr val="EEF6FA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"/>
          <p:cNvSpPr/>
          <p:nvPr/>
        </p:nvSpPr>
        <p:spPr>
          <a:xfrm>
            <a:off x="8046720" y="18288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How to read results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8046720" y="2340864"/>
            <a:ext cx="2834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results show possible trends in the provided metrics. They do not prove the exact reasons behind the changes.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/>
          <p:nvPr/>
        </p:nvSpPr>
        <p:spPr>
          <a:xfrm>
            <a:off x="685800" y="384048"/>
            <a:ext cx="106984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3A4A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5"/>
          <p:cNvCxnSpPr/>
          <p:nvPr/>
        </p:nvCxnSpPr>
        <p:spPr>
          <a:xfrm>
            <a:off x="685800" y="896112"/>
            <a:ext cx="1097280" cy="0"/>
          </a:xfrm>
          <a:prstGeom prst="straightConnector1">
            <a:avLst/>
          </a:prstGeom>
          <a:noFill/>
          <a:ln cap="flat" cmpd="sng" w="27925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5"/>
          <p:cNvSpPr/>
          <p:nvPr/>
        </p:nvSpPr>
        <p:spPr>
          <a:xfrm>
            <a:off x="822960" y="1234440"/>
            <a:ext cx="694944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20"/>
              <a:buFont typeface="Arial"/>
              <a:buNone/>
            </a:pPr>
            <a:r>
              <a:rPr b="0" i="0" lang="en-US" sz="18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Logback became smaller in the analyzed modules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20"/>
              <a:buFont typeface="Arial"/>
              <a:buNone/>
            </a:pPr>
            <a:r>
              <a:rPr b="0" i="0" lang="en-US" sz="18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Average complexity and LCOM slightly increased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20"/>
              <a:buFont typeface="Arial"/>
              <a:buNone/>
            </a:pPr>
            <a:r>
              <a:rPr b="0" i="0" lang="en-US" sz="18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Overall quality score declined compared with early versions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20"/>
              <a:buFont typeface="Arial"/>
              <a:buNone/>
            </a:pPr>
            <a:r>
              <a:rPr b="0" i="0" lang="en-US" sz="18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Later versions show a trade-off: better functionality, weaker understandability/reusability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20"/>
              <a:buFont typeface="Arial"/>
              <a:buNone/>
            </a:pPr>
            <a:r>
              <a:rPr b="0" i="0" lang="en-US" sz="18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Metric-based analysis is useful, but cannot explain every cause</a:t>
            </a:r>
            <a:endParaRPr b="0" i="0" sz="1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8138160" y="16002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A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3A4A"/>
                </a:solidFill>
                <a:latin typeface="Arial"/>
                <a:ea typeface="Arial"/>
                <a:cs typeface="Arial"/>
                <a:sym typeface="Arial"/>
              </a:rPr>
              <a:t>Main message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8001000" y="214884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Useful for comparing versions, but not enough to explain every design decision.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5"/>
          <p:cNvCxnSpPr/>
          <p:nvPr/>
        </p:nvCxnSpPr>
        <p:spPr>
          <a:xfrm>
            <a:off x="8001000" y="3657600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5"/>
          <p:cNvSpPr/>
          <p:nvPr/>
        </p:nvSpPr>
        <p:spPr>
          <a:xfrm>
            <a:off x="8001000" y="39776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QMOOD-inspired approximation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68580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QMOOD-inspired Logback analysis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5"/>
          <p:cNvSpPr txBox="1"/>
          <p:nvPr>
            <p:ph idx="4294967295" type="sldNum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